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1e1af2cc204c2a" /><Relationship Type="http://schemas.openxmlformats.org/officeDocument/2006/relationships/extended-properties" Target="/docProps/app.xml" Id="R08053587607443a2" /><Relationship Type="http://schemas.openxmlformats.org/officeDocument/2006/relationships/officeDocument" Target="/ppt/presentation.xml" Id="Rb3895e43eda7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968b920d2b4f18"/>
  </p:sldMasterIdLst>
  <p:notesMasterIdLst>
    <p:notesMasterId xmlns:r="http://schemas.openxmlformats.org/officeDocument/2006/relationships" r:id="R3f3668ae672d4a1e"/>
  </p:notesMasterIdLst>
  <p:sldIdLst>
    <p:sldId xmlns:r="http://schemas.openxmlformats.org/officeDocument/2006/relationships" id="256" r:id="Rcd7d7fc6a9ba4296"/>
    <p:sldId xmlns:r="http://schemas.openxmlformats.org/officeDocument/2006/relationships" id="257" r:id="Ra9b761b65f9745fa"/>
    <p:sldId xmlns:r="http://schemas.openxmlformats.org/officeDocument/2006/relationships" id="258" r:id="Rfd79b0ac69124a85"/>
    <p:sldId xmlns:r="http://schemas.openxmlformats.org/officeDocument/2006/relationships" id="259" r:id="Rdccca3af663546cb"/>
    <p:sldId xmlns:r="http://schemas.openxmlformats.org/officeDocument/2006/relationships" id="260" r:id="Rde8f8372e0974bc0"/>
    <p:sldId xmlns:r="http://schemas.openxmlformats.org/officeDocument/2006/relationships" id="261" r:id="R93aa76229ced4490"/>
    <p:sldId xmlns:r="http://schemas.openxmlformats.org/officeDocument/2006/relationships" id="262" r:id="Rb3aa93acec774bd8"/>
    <p:sldId xmlns:r="http://schemas.openxmlformats.org/officeDocument/2006/relationships" id="263" r:id="Rf818cf3428184a84"/>
    <p:sldId xmlns:r="http://schemas.openxmlformats.org/officeDocument/2006/relationships" id="264" r:id="Rf7173f7027134b04"/>
    <p:sldId xmlns:r="http://schemas.openxmlformats.org/officeDocument/2006/relationships" id="265" r:id="Ra46844c3802743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ee4180b45f474a" /><Relationship Type="http://schemas.openxmlformats.org/officeDocument/2006/relationships/slideMaster" Target="/ppt/slideMasters/slideMaster1.xml" Id="Re6968b920d2b4f18" /><Relationship Type="http://schemas.openxmlformats.org/officeDocument/2006/relationships/notesMaster" Target="/ppt/notesMasters/notesMaster1.xml" Id="R3f3668ae672d4a1e" /><Relationship Type="http://schemas.openxmlformats.org/officeDocument/2006/relationships/presProps" Target="/ppt/presProps.xml" Id="Ra0987203ace64fec" /><Relationship Type="http://schemas.openxmlformats.org/officeDocument/2006/relationships/tableStyles" Target="/ppt/tableStyles.xml" Id="Rabe4d294ea0042b3" /><Relationship Type="http://schemas.openxmlformats.org/officeDocument/2006/relationships/slide" Target="/ppt/slides/slide1.xml" Id="Rcd7d7fc6a9ba4296" /><Relationship Type="http://schemas.openxmlformats.org/officeDocument/2006/relationships/slide" Target="/ppt/slides/slide2.xml" Id="Ra9b761b65f9745fa" /><Relationship Type="http://schemas.openxmlformats.org/officeDocument/2006/relationships/slide" Target="/ppt/slides/slide3.xml" Id="Rfd79b0ac69124a85" /><Relationship Type="http://schemas.openxmlformats.org/officeDocument/2006/relationships/slide" Target="/ppt/slides/slide4.xml" Id="Rdccca3af663546cb" /><Relationship Type="http://schemas.openxmlformats.org/officeDocument/2006/relationships/slide" Target="/ppt/slides/slide5.xml" Id="Rde8f8372e0974bc0" /><Relationship Type="http://schemas.openxmlformats.org/officeDocument/2006/relationships/slide" Target="/ppt/slides/slide6.xml" Id="R93aa76229ced4490" /><Relationship Type="http://schemas.openxmlformats.org/officeDocument/2006/relationships/slide" Target="/ppt/slides/slide7.xml" Id="Rb3aa93acec774bd8" /><Relationship Type="http://schemas.openxmlformats.org/officeDocument/2006/relationships/slide" Target="/ppt/slides/slide8.xml" Id="Rf818cf3428184a84" /><Relationship Type="http://schemas.openxmlformats.org/officeDocument/2006/relationships/slide" Target="/ppt/slides/slide9.xml" Id="Rf7173f7027134b04" /><Relationship Type="http://schemas.openxmlformats.org/officeDocument/2006/relationships/slide" Target="/ppt/slides/slide10.xml" Id="Ra46844c3802743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cb31b0d7ac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cbd46c23664c77" /><Relationship Type="http://schemas.openxmlformats.org/officeDocument/2006/relationships/notesMaster" Target="/ppt/notesMasters/notesMaster1.xml" Id="R95c3a8649ecf4c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332c4ebb044e18" /><Relationship Type="http://schemas.openxmlformats.org/officeDocument/2006/relationships/notesMaster" Target="/ppt/notesMasters/notesMaster1.xml" Id="R4c0b6aedee3745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445a425a434009" /><Relationship Type="http://schemas.openxmlformats.org/officeDocument/2006/relationships/notesMaster" Target="/ppt/notesMasters/notesMaster1.xml" Id="R082751ca138f4b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e9d0dd2fde4e4b" /><Relationship Type="http://schemas.openxmlformats.org/officeDocument/2006/relationships/notesMaster" Target="/ppt/notesMasters/notesMaster1.xml" Id="R4d00aaa6532d45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24e88ea39455f" /><Relationship Type="http://schemas.openxmlformats.org/officeDocument/2006/relationships/notesMaster" Target="/ppt/notesMasters/notesMaster1.xml" Id="R4f658741ec0b46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682a04932d4b93" /><Relationship Type="http://schemas.openxmlformats.org/officeDocument/2006/relationships/notesMaster" Target="/ppt/notesMasters/notesMaster1.xml" Id="R18aca1e864434d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366ecc9c0d41b3" /><Relationship Type="http://schemas.openxmlformats.org/officeDocument/2006/relationships/notesMaster" Target="/ppt/notesMasters/notesMaster1.xml" Id="Rd01d01b64ef941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51d7f5944f4083" /><Relationship Type="http://schemas.openxmlformats.org/officeDocument/2006/relationships/notesMaster" Target="/ppt/notesMasters/notesMaster1.xml" Id="Rfcba7033d59e46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f1b30f9b9c47d2" /><Relationship Type="http://schemas.openxmlformats.org/officeDocument/2006/relationships/notesMaster" Target="/ppt/notesMasters/notesMaster1.xml" Id="R93c04c02415643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7f5366ccf0496c" /><Relationship Type="http://schemas.openxmlformats.org/officeDocument/2006/relationships/notesMaster" Target="/ppt/notesMasters/notesMaster1.xml" Id="Rcf32fd102e1148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3c729853e4d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fb389ffa5b4af6" /><Relationship Type="http://schemas.openxmlformats.org/officeDocument/2006/relationships/slideLayout" Target="/ppt/slideLayouts/slideLayout1.xml" Id="R56e8594a079741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e8594a079741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83895851e485a" /><Relationship Type="http://schemas.openxmlformats.org/officeDocument/2006/relationships/notesSlide" Target="/ppt/notesSlides/notesSlide1.xml" Id="R205a6f81989a46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b35fa6b9e4bc6" /><Relationship Type="http://schemas.openxmlformats.org/officeDocument/2006/relationships/notesSlide" Target="/ppt/notesSlides/notesSlide2.xml" Id="Rc9cd34fe5c4c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b33e29d4449f5" /><Relationship Type="http://schemas.openxmlformats.org/officeDocument/2006/relationships/notesSlide" Target="/ppt/notesSlides/notesSlide3.xml" Id="R7d5cf9aea31d45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0141fd248454c" /><Relationship Type="http://schemas.openxmlformats.org/officeDocument/2006/relationships/image" Target="/ppt/media/image.png" Id="R4a220a9a4828407e" /><Relationship Type="http://schemas.openxmlformats.org/officeDocument/2006/relationships/notesSlide" Target="/ppt/notesSlides/notesSlide4.xml" Id="R75c94c55390842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b7b3d399648a8" /><Relationship Type="http://schemas.openxmlformats.org/officeDocument/2006/relationships/image" Target="/ppt/media/image2.png" Id="Ra78c4fb1be784e9e" /><Relationship Type="http://schemas.openxmlformats.org/officeDocument/2006/relationships/image" Target="/ppt/media/image3.png" Id="Rb66c1e834bc746d1" /><Relationship Type="http://schemas.openxmlformats.org/officeDocument/2006/relationships/image" Target="/ppt/media/image4.png" Id="R15ce73085a3a46c5" /><Relationship Type="http://schemas.openxmlformats.org/officeDocument/2006/relationships/notesSlide" Target="/ppt/notesSlides/notesSlide5.xml" Id="Rfa507832a45844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e5c6a3ce74ecf" /><Relationship Type="http://schemas.openxmlformats.org/officeDocument/2006/relationships/image" Target="/ppt/media/image5.png" Id="R2d233425b3534679" /><Relationship Type="http://schemas.openxmlformats.org/officeDocument/2006/relationships/notesSlide" Target="/ppt/notesSlides/notesSlide6.xml" Id="R1a5034aabe244c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4ed3402fa4b9f" /><Relationship Type="http://schemas.openxmlformats.org/officeDocument/2006/relationships/image" Target="/ppt/media/image6.png" Id="R860cbf048cca497b" /><Relationship Type="http://schemas.openxmlformats.org/officeDocument/2006/relationships/notesSlide" Target="/ppt/notesSlides/notesSlide7.xml" Id="R65806fffcff746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5415288704e0a" /><Relationship Type="http://schemas.openxmlformats.org/officeDocument/2006/relationships/image" Target="/ppt/media/image7.png" Id="R8dc873ce7c014cb3" /><Relationship Type="http://schemas.openxmlformats.org/officeDocument/2006/relationships/image" Target="/ppt/media/image8.png" Id="R87b8040db7ca4ed5" /><Relationship Type="http://schemas.openxmlformats.org/officeDocument/2006/relationships/notesSlide" Target="/ppt/notesSlides/notesSlide8.xml" Id="Rd53f24797c7548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6df649f064777" /><Relationship Type="http://schemas.openxmlformats.org/officeDocument/2006/relationships/notesSlide" Target="/ppt/notesSlides/notesSlide9.xml" Id="R41eaaed1ade848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d24bce064464a" /><Relationship Type="http://schemas.openxmlformats.org/officeDocument/2006/relationships/notesSlide" Target="/ppt/notesSlides/notesSlide10.xml" Id="Re305002727444a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7A4C6-DD6D-4FBE-AD2B-4C838128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A4EC5-5413-4BC0-B48D-DD630F39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0581D-0A70-4920-B6E9-BD70B4E8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3581B-1B70-418F-85C3-6985E2E3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TransitAI UTM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769A3-771E-4DA6-9F25-6E4C6F39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2762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E9B0"/>
                </a:solidFill>
                <a:latin typeface="Aptos"/>
                <a:ea typeface="Aptos"/>
                <a:cs typeface="Aptos"/>
              </a:rPr>
              <a:t>Campus transport chatbot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57E24-D7F5-440D-9DED-0153E0B0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MECS0033-52 Artificial Intelligence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DEEC6-658B-4E11-A363-CAC9F138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3820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E2330"/>
                </a:solidFill>
                <a:latin typeface="Aptos"/>
                <a:ea typeface="Aptos"/>
                <a:cs typeface="Aptos"/>
              </a:rPr>
              <a:t>Teacher-facing demo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4930E-AD38-4406-A641-1D42391F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95450"/>
            <a:ext cx="609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Shows exactly how the prototype meets the rubric: interactive screen, problem solving, and administrator manual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34F1C-C2FA-4489-B34F-EA28FA8D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2A9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FCF0C-4DD2-4250-94B0-1025103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Interactive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BEC51-D4FF-45A8-8368-0D53F73A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33800"/>
            <a:ext cx="3762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Free text, quick actions, phone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5CB6A-6FF1-40F3-B4D9-559F1E38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053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2A9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73A30-D957-4FC3-8F02-66F6FAB2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19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AI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389A2-2FB4-4D44-86F0-07F2E2DD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19600"/>
            <a:ext cx="3762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Intent confidence, RAG-style retrieval, proof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17858-5D53-4DC6-871E-056C0715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911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2A9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187B0-02D2-4145-B0E9-8DD7844F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105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Truthful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4214B-1190-44AC-A8C4-83181207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05400"/>
            <a:ext cx="3762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Public route labels + simulated timing boundary</a:t>
            </a:r>
          </a:p>
        </p:txBody>
      </p:sp>
    </p:spTree>
    <p:extLst>
      <p:ext uri="{BB962C8B-B14F-4D97-AF65-F5344CB8AC3E}">
        <p14:creationId xmlns:p14="http://schemas.microsoft.com/office/powerpoint/2010/main" val="646793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239E6A-D441-428A-825D-26FA555F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BF312-FE8C-4C9A-98E2-5084EF69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1A6FC-6058-41CE-A284-B345C261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Rubric fit: high-score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627E5-90CF-49AB-93DE-ECA981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5BC6C-EC22-42F1-82CD-D91E85C1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E4EAF-365B-47F7-B1DB-49BD810D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52AFD-A01A-450A-A6C9-C3269326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4302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Originality / Interactive 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0CD42-95B3-4246-878C-96D8D00E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8592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Phone-frame app with real inputs and outputs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Intent confidence visible to marker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RAG-style source panel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Resolution proof is tied to the report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AC461-5905-447D-A0F9-288B7039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90625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B7234-1BA3-4FDC-8014-5D0C0A47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906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B2754-0185-4FEC-B119-81035110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34302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Problem Solving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47F2E-8505-471E-BEDC-38AF49B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8592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Schedule uncertainty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Route confusion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Arrival uncertainty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Delay notification gap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Feedback / escalation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FA41E-A076-4D59-B4D7-6979E433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90625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B7BD7-57E5-4377-8505-49DFDF35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906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234CF-F302-43EB-B342-893206A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4302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Admin Manual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AF707-BEE8-42C9-8504-67558FB0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8592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Component/function map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Data-source truth policy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Configuration guide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Screenshots and troubleshooting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4D0EB-3A2D-4A75-A6CC-05EAF6E9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2330"/>
                </a:solidFill>
                <a:latin typeface="Aptos"/>
                <a:ea typeface="Aptos"/>
                <a:cs typeface="Aptos"/>
              </a:rPr>
              <a:t>Main scoring risk reduced: the prototype now clearly labels what is public route data and what is simulated POC behavior. The demo-time control prevents night presentation from making every route look closed.</a:t>
            </a:r>
          </a:p>
        </p:txBody>
      </p:sp>
    </p:spTree>
    <p:extLst>
      <p:ext uri="{BB962C8B-B14F-4D97-AF65-F5344CB8AC3E}">
        <p14:creationId xmlns:p14="http://schemas.microsoft.com/office/powerpoint/2010/main" val="639106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3B0522-AC78-43F2-BDCB-AC82631E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6C758-5D48-4B05-855F-695018A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C34C5-EE90-47EA-B4D8-94AA94CB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truth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14276-D836-4263-915A-BB049A4A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9DD09-8FB5-475C-9312-57F2C8B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B1235-B2F1-4687-A01C-F3FB6731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1922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Public route listing aligned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BCE56-A5F2-46A9-9328-E2374815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19225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BAS A/B/C/D/E/F/G/H labels and public stop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7898E-30BA-4131-989E-5721037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4ED47-2240-4853-A264-3B30E1B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241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Public stop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5742E-A10C-4E59-B9CB-3EE8A512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CP, KTDI, KTHO, KTR, KDOJ, N24, P19, T02, T08, V01, etc.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1A459-2BFD-4C61-82E8-6F22136D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42273-26E0-49A5-A5DE-4FF6CF29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289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Prototype mappings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CD89C-7522-44C8-BDFA-5B695A1E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28975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FC → N24 / Cluster Area; FKE → P19 / FKE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7B5D1-D340-4DD3-9011-3A5A1B5A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0BC29-8299-4FD4-BBE7-30F934F4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3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Simulated POC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2CC26-32D7-4D72-BBA0-FB171A6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33850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Next departure, operating hours, headway, live arrival ETA, delay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DC9E1-AA07-4925-916B-8C4530C2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038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Presentation wording: “Route names and stop sequences follow public UTM/KDOJ listings where available. Timetable/ETA values are simulated because no live verified feed is connected to this 10% POC.”</a:t>
            </a:r>
          </a:p>
        </p:txBody>
      </p:sp>
    </p:spTree>
    <p:extLst>
      <p:ext uri="{BB962C8B-B14F-4D97-AF65-F5344CB8AC3E}">
        <p14:creationId xmlns:p14="http://schemas.microsoft.com/office/powerpoint/2010/main" val="1283166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9ABC33-4AB5-493C-A34E-22A22BCA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426B0-6554-4171-BD2A-20216785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FF7DF-C47A-4E49-92A8-06AB7CF3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Prototype first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1D738-2838-4D54-8BE3-9D82BE48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20a9a4828407e"/>
          <a:stretch xmlns:a="http://schemas.openxmlformats.org/drawingml/2006/main"/>
        </p:blipFill>
        <p:spPr>
          <a:xfrm xmlns:a="http://schemas.openxmlformats.org/drawingml/2006/main">
            <a:off x="685800" y="1350764"/>
            <a:ext cx="7239000" cy="47279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31810-2653-4175-AC19-58A439D0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Home/chat, quick actions and AI pipeline panel.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FD23D-918C-43CF-A232-39820B80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3000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A8007-C536-46CE-9560-84EB0339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8CBB2-37D3-448E-BF99-B32C4B0E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533525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What to point 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FACCA-BC4B-4C65-A311-0FBA569F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76425"/>
            <a:ext cx="25812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Phone status time now visible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No install, no backend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Input and output shown immediately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081C7-19E5-4F37-9C00-C06BA770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3000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3195F-4533-4151-9096-D2021F7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85238-5ED8-4B71-80F1-1CB3A108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43275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AI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E91B0-57E9-459A-A7C0-D91404B1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86175"/>
            <a:ext cx="25812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Intent recognition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Knowledge retrieval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Grounded response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Source note</a:t>
            </a:r>
          </a:p>
        </p:txBody>
      </p:sp>
    </p:spTree>
    <p:extLst>
      <p:ext uri="{BB962C8B-B14F-4D97-AF65-F5344CB8AC3E}">
        <p14:creationId xmlns:p14="http://schemas.microsoft.com/office/powerpoint/2010/main" val="439757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6A8A2-299D-4407-92C4-203956EA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F69BD-9C29-4E4E-BAF2-B74DAECC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95983-5554-439F-874F-173665FE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Student flows: schedule, route,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21B47-FF73-4F6B-BC27-CE70BEB5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c4fb1be784e9e"/>
          <a:stretch xmlns:a="http://schemas.openxmlformats.org/drawingml/2006/main"/>
        </p:blipFill>
        <p:spPr>
          <a:xfrm xmlns:a="http://schemas.openxmlformats.org/drawingml/2006/main">
            <a:off x="523875" y="1218605"/>
            <a:ext cx="3429000" cy="22395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DE44F-A824-4195-B090-B102C507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9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Schedule: demo time + source note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c1e834bc746d1"/>
          <a:stretch xmlns:a="http://schemas.openxmlformats.org/drawingml/2006/main"/>
        </p:blipFill>
        <p:spPr>
          <a:xfrm xmlns:a="http://schemas.openxmlformats.org/drawingml/2006/main">
            <a:off x="4381500" y="1218605"/>
            <a:ext cx="3429000" cy="223956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FB5DE-0157-46C4-8F2D-85425FD1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09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Route: BAS G stop sequence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e73085a3a46c5"/>
          <a:stretch xmlns:a="http://schemas.openxmlformats.org/drawingml/2006/main"/>
        </p:blipFill>
        <p:spPr>
          <a:xfrm xmlns:a="http://schemas.openxmlformats.org/drawingml/2006/main">
            <a:off x="8239125" y="1218605"/>
            <a:ext cx="3429000" cy="223956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198E2-1EDA-4AA7-9C5F-1C00B3B1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9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Arrival: simulated 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EE8F5-33A2-41F3-A51D-0BAEAB06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038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E2330"/>
                </a:solidFill>
                <a:latin typeface="Aptos"/>
                <a:ea typeface="Aptos"/>
                <a:cs typeface="Aptos"/>
              </a:rPr>
              <a:t>The marker sees the real problem being solved: students can ask natural questions instead of searching static notices. Each answer states the data source and simulation boundary.</a:t>
            </a:r>
          </a:p>
        </p:txBody>
      </p:sp>
    </p:spTree>
    <p:extLst>
      <p:ext uri="{BB962C8B-B14F-4D97-AF65-F5344CB8AC3E}">
        <p14:creationId xmlns:p14="http://schemas.microsoft.com/office/powerpoint/2010/main" val="683351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ADC665-A24C-401A-8A2E-31E9021C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2C098-2680-46A4-AC72-3B6ADADA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19224-1336-43DC-AF0A-4448DEB2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Staff Demo time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A3E2B-94AA-4E34-8AC5-EBF2CBF9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33425b3534679"/>
          <a:stretch xmlns:a="http://schemas.openxmlformats.org/drawingml/2006/main"/>
        </p:blipFill>
        <p:spPr>
          <a:xfrm xmlns:a="http://schemas.openxmlformats.org/drawingml/2006/main">
            <a:off x="742950" y="1526232"/>
            <a:ext cx="6191250" cy="40436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8CE24-B922-4650-89BD-CB0D3ECF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Staff Demo controls with fixed demo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DBCA0-EBC8-404D-8A03-1C3151A1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7D4CE-2974-4329-9E68-B5E91AA2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853A8-D158-4898-9FC1-8A465D08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859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Why it was added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338D6-1C4C-46D2-B4EF-CCD30A21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28800"/>
            <a:ext cx="29146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At night, live device time makes route cards show “closed now.” Demo time gives repeatable morning/lunch/evening/night scenarios.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D2CD9-E204-48F1-9B45-F66826D4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B7883-C1D6-4CAA-8EBF-FD72DB43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11DA1-AB65-4ECC-B1E2-6E4691D1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813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How to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39995-E1BD-4B34-B7A8-12823B10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29146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Use 10:00 for normal service. Use 20:30 only when intentionally showing closed-service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194772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71DB6B-CE88-4EDA-A40F-351D6524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79BBB-50A8-4F41-A564-AC795B5A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9B848-8A1B-44E4-9599-622D82AE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Originality highlight: resolution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1CAE3-DFBC-46C7-8F29-B0305BFE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cbf048cca497b"/>
          <a:stretch xmlns:a="http://schemas.openxmlformats.org/drawingml/2006/main"/>
        </p:blipFill>
        <p:spPr>
          <a:xfrm xmlns:a="http://schemas.openxmlformats.org/drawingml/2006/main">
            <a:off x="1217999" y="1095375"/>
            <a:ext cx="2612252" cy="533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0BE93-726E-4ECF-A5A7-4D6B994B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8652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Proof trace crop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92FCC-1D7B-478C-A174-F8A1E9C4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41B33-0A3A-477A-8205-5A8DDDB7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E5FA9-475E-4BCB-8151-C9638F63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85900"/>
            <a:ext cx="548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DDF54-2823-48AE-BDAA-A7074D9C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28800"/>
            <a:ext cx="548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From P1 WantsRouteAlert(ali, route_a), P2 Delayed(route_a), and rules P3/P4, the engine derives NotifyUser(ali, route_a, delay).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B6610-6912-4FF6-8535-29016147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80BFF-DC2A-4859-A9E9-CD348431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FF54F-86AD-4DF3-AD01-54228B73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48025"/>
            <a:ext cx="548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Why it is not just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9C730-DECC-47E9-8BFA-8F6A4DF4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90925"/>
            <a:ext cx="548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Unification and resolution are computed by resolution.js. The proof only runs when the user is subscribed and the route is actually marked delayed in app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EF634-ABEB-4C9D-B401-092393FF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590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02F93-7F25-4DF6-BEC3-692888B3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B434E-35BD-4EE5-ABC0-4E3FE3F2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0150"/>
            <a:ext cx="548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Demo 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F6190-DD0F-447E-9343-11AE213A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5305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“This proof matches Figure 5.2 in our report and drives the Alerts screen.”</a:t>
            </a:r>
          </a:p>
        </p:txBody>
      </p:sp>
    </p:spTree>
    <p:extLst>
      <p:ext uri="{BB962C8B-B14F-4D97-AF65-F5344CB8AC3E}">
        <p14:creationId xmlns:p14="http://schemas.microsoft.com/office/powerpoint/2010/main" val="1251837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DF490-8E74-4D22-B715-D142E42F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0CD31-1139-4347-9C56-8A1F6F77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ACBD7-63DB-4BAC-A4FC-99234FDE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Staff Demo outcome: alerts and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7779B-421A-4D66-98BF-9CE9AC3F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873ce7c014cb3"/>
          <a:stretch xmlns:a="http://schemas.openxmlformats.org/drawingml/2006/main"/>
        </p:blipFill>
        <p:spPr>
          <a:xfrm xmlns:a="http://schemas.openxmlformats.org/drawingml/2006/main">
            <a:off x="742950" y="1321296"/>
            <a:ext cx="4762500" cy="31105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A8F54-CFD3-40C2-89CF-FD022118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Alerts after proof-triggered delay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8040db7ca4ed5"/>
          <a:stretch xmlns:a="http://schemas.openxmlformats.org/drawingml/2006/main"/>
        </p:blipFill>
        <p:spPr>
          <a:xfrm xmlns:a="http://schemas.openxmlformats.org/drawingml/2006/main">
            <a:off x="6667500" y="1321296"/>
            <a:ext cx="4762500" cy="311050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64864-58BF-474A-B6DE-88FE97AE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Feedback escalation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3E6C7-F3F0-474F-AB0F-8066DF63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000"/>
            <a:ext cx="1000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2330"/>
                </a:solidFill>
                <a:latin typeface="Aptos"/>
                <a:ea typeface="Aptos"/>
                <a:cs typeface="Aptos"/>
              </a:rPr>
              <a:t>These two screens close the loop for both user pain points: proactive delay notification and staff follow-up when information is wrong or incomplete.</a:t>
            </a:r>
          </a:p>
        </p:txBody>
      </p:sp>
    </p:spTree>
    <p:extLst>
      <p:ext uri="{BB962C8B-B14F-4D97-AF65-F5344CB8AC3E}">
        <p14:creationId xmlns:p14="http://schemas.microsoft.com/office/powerpoint/2010/main" val="415312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943AF0-3E5C-4BD7-8A33-6A3D5994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D3AF5-D1CC-4263-ADE1-8B7B682A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F0E01-17C5-4064-8F38-EF2EA94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 shown in the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3DEC2-F91F-49B1-9D63-FD26B3B0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13F56-ABCD-4ACF-B5DD-4FBE6373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E3D0B-FFEE-4172-A8D4-8EC11A50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User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3101A-D551-4FD6-BE96-09CD59C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Typed query or quick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41066-1B57-4264-97CA-7CCDB60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098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6CD6B-3B60-4508-A944-6CB43700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621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871E9-BC79-42CC-B1D7-B5A08467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0002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EE4C9-67B2-4A98-BFCF-5BEBD2F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288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classify() +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89870-FFA2-40B6-BBEB-4EF6BEC3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77977-64B0-487A-AE9F-B10F3138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8C7F9-D763-4718-B1F1-143A0201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02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BE6D0-F7E3-4C49-AB5B-2C26ADEA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288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Top KB chunks + source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83DE2-9FB4-490E-9BA0-BE55DE58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098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6A95D-6807-4B1E-B2DF-BCE13AC3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621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EDCD0-011D-464D-A077-D06036CD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002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A264E-3B3C-480F-B48E-0550518C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Grounded answer card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3080F-D72E-4EA4-82F1-C5C70959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345FB-EE08-4D12-812B-61A467BD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621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02529-443E-473E-B90A-CF3A954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002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Staff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89D7B-8757-406A-A721-23F869D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288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Resolution derives NotifyUser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FC295-6EA8-4546-9408-465A732E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10144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2330"/>
                </a:solidFill>
                <a:latin typeface="Aptos"/>
                <a:ea typeface="Aptos"/>
                <a:cs typeface="Aptos"/>
              </a:rPr>
              <a:t>The side panel exposes the same pipeline live during the demo, so the grader can see the AI concept rather than only a static app screen.</a:t>
            </a:r>
          </a:p>
        </p:txBody>
      </p:sp>
    </p:spTree>
    <p:extLst>
      <p:ext uri="{BB962C8B-B14F-4D97-AF65-F5344CB8AC3E}">
        <p14:creationId xmlns:p14="http://schemas.microsoft.com/office/powerpoint/2010/main" val="1201525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EFECF9-2BD9-445B-864C-5BD152C7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35656-857D-42D2-A9A5-215CA2F5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F004-F11E-4239-B3CA-2101FE87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FC38D-98FA-4AEC-801A-B3050BF6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AF1C2-D252-42CA-BF5C-B7C34C71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4714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F31A4-13D7-41C8-B537-AE1A7097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82165-82FF-4566-92F9-E7C43176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390650"/>
            <a:ext cx="4295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Before presenting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4D219-AB53-41F8-8FE9-2621421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733550"/>
            <a:ext cx="429577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Open prototype/index.html or serve prototype folder at localhost:8000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Staff Demo -&gt; Demo time -&gt; 10:00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Keep the AI pipeline panel visible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Say timing/ETA are simulated POC data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Use BAS G example for KTDI to P19/FKE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5DE62-CBBE-4551-A6E6-4F119F48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4714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27015-949F-4F5C-872C-A9885659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2B5DB-97FA-482C-9234-90BAF51E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90650"/>
            <a:ext cx="4295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Scoring moments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5D9AB-2C23-46E1-B26F-C11F379B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29577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Schedule card: source + time basis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Route card: stop sequence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Staff Demo: toggle BAS A delayed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Proof trace: empty clause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Alerts: notification appears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Manual: Word file has full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65249-6BC8-46DD-A1D1-92625932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Final message: a reliable local POC with transparent data boundaries is stronger than a fragile live API demo.</a:t>
            </a:r>
          </a:p>
        </p:txBody>
      </p:sp>
    </p:spTree>
    <p:extLst>
      <p:ext uri="{BB962C8B-B14F-4D97-AF65-F5344CB8AC3E}">
        <p14:creationId xmlns:p14="http://schemas.microsoft.com/office/powerpoint/2010/main" val="2120474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2026-07-02T06:06:05.5730000Z</dcterms:created>
  <dcterms:modified xsi:type="dcterms:W3CDTF">2026-07-02T06:06:05.5730000Z</dcterms:modified>
</coreProperties>
</file>